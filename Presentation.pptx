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aser Arabic Bold" charset="1" panose="00000800000000000000"/>
      <p:regular r:id="rId17"/>
    </p:embeddedFont>
    <p:embeddedFont>
      <p:font typeface="Garet Bold" charset="1" panose="00000000000000000000"/>
      <p:regular r:id="rId18"/>
    </p:embeddedFont>
    <p:embeddedFont>
      <p:font typeface="Garet" charset="1" panose="00000000000000000000"/>
      <p:regular r:id="rId19"/>
    </p:embeddedFont>
    <p:embeddedFont>
      <p:font typeface="Montaser Arabic" charset="1" panose="00000500000000000000"/>
      <p:regular r:id="rId20"/>
    </p:embeddedFont>
    <p:embeddedFont>
      <p:font typeface="Glacial Indifference" charset="1" panose="00000000000000000000"/>
      <p:regular r:id="rId21"/>
    </p:embeddedFont>
    <p:embeddedFont>
      <p:font typeface="Glacial Indifference Bold" charset="1" panose="00000800000000000000"/>
      <p:regular r:id="rId22"/>
    </p:embeddedFont>
    <p:embeddedFont>
      <p:font typeface="Bricolage Grotesque Bold" charset="1" panose="020B060504040200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59939" y="860796"/>
            <a:ext cx="3066221" cy="1922884"/>
          </a:xfrm>
          <a:custGeom>
            <a:avLst/>
            <a:gdLst/>
            <a:ahLst/>
            <a:cxnLst/>
            <a:rect r="r" b="b" t="t" l="l"/>
            <a:pathLst>
              <a:path h="1922884" w="3066221">
                <a:moveTo>
                  <a:pt x="0" y="0"/>
                </a:moveTo>
                <a:lnTo>
                  <a:pt x="3066220" y="0"/>
                </a:lnTo>
                <a:lnTo>
                  <a:pt x="3066220" y="1922884"/>
                </a:lnTo>
                <a:lnTo>
                  <a:pt x="0" y="1922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4825" y="3727613"/>
            <a:ext cx="11718350" cy="180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1"/>
              </a:lnSpc>
              <a:spcBef>
                <a:spcPct val="0"/>
              </a:spcBef>
            </a:pPr>
            <a:r>
              <a:rPr lang="en-US" b="true" sz="520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CYBER RISK ASSESSMENT &amp; THREAT INTELLIGENCE PLATFORM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81071" y="6757809"/>
            <a:ext cx="6125859" cy="2786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265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Presented by</a:t>
            </a:r>
          </a:p>
          <a:p>
            <a:pPr algn="ctr">
              <a:lnSpc>
                <a:spcPts val="3715"/>
              </a:lnSpc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Noor Nabeeha</a:t>
            </a:r>
          </a:p>
          <a:p>
            <a:pPr algn="ctr">
              <a:lnSpc>
                <a:spcPts val="3715"/>
              </a:lnSpc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Dhanush P</a:t>
            </a:r>
          </a:p>
          <a:p>
            <a:pPr algn="ctr">
              <a:lnSpc>
                <a:spcPts val="3715"/>
              </a:lnSpc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Sujithraa</a:t>
            </a:r>
          </a:p>
          <a:p>
            <a:pPr algn="ctr">
              <a:lnSpc>
                <a:spcPts val="3715"/>
              </a:lnSpc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Akshay</a:t>
            </a:r>
          </a:p>
          <a:p>
            <a:pPr algn="ctr">
              <a:lnSpc>
                <a:spcPts val="3715"/>
              </a:lnSpc>
              <a:spcBef>
                <a:spcPct val="0"/>
              </a:spcBef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61305" y="1029192"/>
            <a:ext cx="9791960" cy="150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4"/>
              </a:lnSpc>
              <a:spcBef>
                <a:spcPct val="0"/>
              </a:spcBef>
            </a:pPr>
            <a:r>
              <a:rPr lang="en-US" sz="434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INFOSYS SPRINGBOARD INTERNSHIP 6.0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83050" y="7986312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63758" y="1893844"/>
            <a:ext cx="8663006" cy="3226468"/>
          </a:xfrm>
          <a:custGeom>
            <a:avLst/>
            <a:gdLst/>
            <a:ahLst/>
            <a:cxnLst/>
            <a:rect r="r" b="b" t="t" l="l"/>
            <a:pathLst>
              <a:path h="3226468" w="8663006">
                <a:moveTo>
                  <a:pt x="0" y="0"/>
                </a:moveTo>
                <a:lnTo>
                  <a:pt x="8663006" y="0"/>
                </a:lnTo>
                <a:lnTo>
                  <a:pt x="8663006" y="3226467"/>
                </a:lnTo>
                <a:lnTo>
                  <a:pt x="0" y="32264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9518576">
            <a:off x="4849812" y="2537145"/>
            <a:ext cx="3954709" cy="2866561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51544" y="5693695"/>
            <a:ext cx="9943337" cy="34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</a:t>
            </a: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on-based platform for automated cyber risk assessment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Integrates threat intelligence (Shodan, VirusTotal, Nessus)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Performs vulnerability scanning and risk scoring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Generates security reports and real-time alerts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Dashboard for vulnerabilities, trends, and compliance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Helps reduce risk and improve cybersecurity posture</a:t>
            </a:r>
          </a:p>
          <a:p>
            <a:pPr algn="l">
              <a:lnSpc>
                <a:spcPts val="342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19682" y="268914"/>
            <a:ext cx="13201071" cy="148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8"/>
              </a:lnSpc>
              <a:spcBef>
                <a:spcPct val="0"/>
              </a:spcBef>
            </a:pPr>
            <a:r>
              <a:rPr lang="en-US" sz="870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</a:t>
            </a:r>
            <a:r>
              <a:rPr lang="en-US" sz="870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ROJECT STATEMENT: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57275" y="-2298080"/>
            <a:ext cx="14919919" cy="14919919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23830" y="1963104"/>
            <a:ext cx="9129434" cy="8323896"/>
          </a:xfrm>
          <a:custGeom>
            <a:avLst/>
            <a:gdLst/>
            <a:ahLst/>
            <a:cxnLst/>
            <a:rect r="r" b="b" t="t" l="l"/>
            <a:pathLst>
              <a:path h="8323896" w="9129434">
                <a:moveTo>
                  <a:pt x="0" y="0"/>
                </a:moveTo>
                <a:lnTo>
                  <a:pt x="9129435" y="0"/>
                </a:lnTo>
                <a:lnTo>
                  <a:pt x="9129435" y="8323896"/>
                </a:lnTo>
                <a:lnTo>
                  <a:pt x="0" y="83238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8693" y="234534"/>
            <a:ext cx="7599031" cy="199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4"/>
              </a:lnSpc>
              <a:spcBef>
                <a:spcPct val="0"/>
              </a:spcBef>
            </a:pPr>
            <a:r>
              <a:rPr lang="en-US" sz="573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PROJECT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0384" y="196506"/>
            <a:ext cx="1543368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MODULES → SOLUTION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4893" y="2799703"/>
            <a:ext cx="4309071" cy="430907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77145" y="4878038"/>
            <a:ext cx="3392586" cy="120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  <a:spcBef>
                <a:spcPct val="0"/>
              </a:spcBef>
            </a:pPr>
            <a:r>
              <a:rPr lang="en-US" sz="34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Vulnerability Scanning Engine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6386" y="3714965"/>
            <a:ext cx="2434105" cy="85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9"/>
              </a:lnSpc>
              <a:spcBef>
                <a:spcPct val="0"/>
              </a:spcBef>
            </a:pPr>
            <a:r>
              <a:rPr lang="en-US" sz="50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93964" y="3395385"/>
            <a:ext cx="12886271" cy="342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raps Nmap as a Python subprocess (-sT -sV -O --script banner -Pn)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Parses XML output to extract open ports, services, OS, SSL tunneling, banners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Tags each port as HIGH / MEDIUM / LOW risk using lookup tables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SSL on a high-risk port auto-downgrades severity (HIGH → MEDIUM)</a:t>
            </a: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0384" y="196506"/>
            <a:ext cx="1543368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MODULES → SOLUTION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4893" y="2799703"/>
            <a:ext cx="4309071" cy="430907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1019" y="4878038"/>
            <a:ext cx="3816819" cy="120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  <a:spcBef>
                <a:spcPct val="0"/>
              </a:spcBef>
            </a:pPr>
            <a:r>
              <a:rPr lang="en-US" sz="34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Threat Intelligence Integration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6386" y="3714965"/>
            <a:ext cx="2434105" cy="85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9"/>
              </a:lnSpc>
              <a:spcBef>
                <a:spcPct val="0"/>
              </a:spcBef>
            </a:pPr>
            <a:r>
              <a:rPr lang="en-US" sz="50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93964" y="3395385"/>
            <a:ext cx="12886271" cy="342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ueries VirusTotal API v3 with Base64-encoded target URLs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Retrieves: malicious engine count, suspicious count, reputation score, last scan date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ecursively checks up to 10 outgoing links for malicious flags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API key loaded from .env — never hardcoded</a:t>
            </a: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4528" y="2511425"/>
            <a:ext cx="4978498" cy="1912773"/>
            <a:chOff x="0" y="0"/>
            <a:chExt cx="1311209" cy="50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1209" cy="503776"/>
            </a:xfrm>
            <a:custGeom>
              <a:avLst/>
              <a:gdLst/>
              <a:ahLst/>
              <a:cxnLst/>
              <a:rect r="r" b="b" t="t" l="l"/>
              <a:pathLst>
                <a:path h="503776" w="1311209">
                  <a:moveTo>
                    <a:pt x="79309" y="0"/>
                  </a:moveTo>
                  <a:lnTo>
                    <a:pt x="1231901" y="0"/>
                  </a:lnTo>
                  <a:cubicBezTo>
                    <a:pt x="1275702" y="0"/>
                    <a:pt x="1311209" y="35508"/>
                    <a:pt x="1311209" y="79309"/>
                  </a:cubicBezTo>
                  <a:lnTo>
                    <a:pt x="1311209" y="424467"/>
                  </a:lnTo>
                  <a:cubicBezTo>
                    <a:pt x="1311209" y="468268"/>
                    <a:pt x="1275702" y="503776"/>
                    <a:pt x="1231901" y="503776"/>
                  </a:cubicBezTo>
                  <a:lnTo>
                    <a:pt x="79309" y="503776"/>
                  </a:lnTo>
                  <a:cubicBezTo>
                    <a:pt x="58275" y="503776"/>
                    <a:pt x="38102" y="495420"/>
                    <a:pt x="23229" y="480547"/>
                  </a:cubicBezTo>
                  <a:cubicBezTo>
                    <a:pt x="8356" y="465673"/>
                    <a:pt x="0" y="445501"/>
                    <a:pt x="0" y="424467"/>
                  </a:cubicBezTo>
                  <a:lnTo>
                    <a:pt x="0" y="79309"/>
                  </a:lnTo>
                  <a:cubicBezTo>
                    <a:pt x="0" y="35508"/>
                    <a:pt x="35508" y="0"/>
                    <a:pt x="7930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11209" cy="54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71550" y="2663825"/>
            <a:ext cx="4707550" cy="1760373"/>
            <a:chOff x="0" y="0"/>
            <a:chExt cx="1663955" cy="622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3955" cy="622230"/>
            </a:xfrm>
            <a:custGeom>
              <a:avLst/>
              <a:gdLst/>
              <a:ahLst/>
              <a:cxnLst/>
              <a:rect r="r" b="b" t="t" l="l"/>
              <a:pathLst>
                <a:path h="622230" w="1663955">
                  <a:moveTo>
                    <a:pt x="83873" y="0"/>
                  </a:moveTo>
                  <a:lnTo>
                    <a:pt x="1580081" y="0"/>
                  </a:lnTo>
                  <a:cubicBezTo>
                    <a:pt x="1626403" y="0"/>
                    <a:pt x="1663955" y="37551"/>
                    <a:pt x="1663955" y="83873"/>
                  </a:cubicBezTo>
                  <a:lnTo>
                    <a:pt x="1663955" y="538357"/>
                  </a:lnTo>
                  <a:cubicBezTo>
                    <a:pt x="1663955" y="584679"/>
                    <a:pt x="1626403" y="622230"/>
                    <a:pt x="1580081" y="622230"/>
                  </a:cubicBezTo>
                  <a:lnTo>
                    <a:pt x="83873" y="622230"/>
                  </a:lnTo>
                  <a:cubicBezTo>
                    <a:pt x="37551" y="622230"/>
                    <a:pt x="0" y="584679"/>
                    <a:pt x="0" y="538357"/>
                  </a:cubicBezTo>
                  <a:lnTo>
                    <a:pt x="0" y="83873"/>
                  </a:lnTo>
                  <a:cubicBezTo>
                    <a:pt x="0" y="37551"/>
                    <a:pt x="37551" y="0"/>
                    <a:pt x="8387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63955" cy="660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790286">
            <a:off x="13149790" y="7297616"/>
            <a:ext cx="2474751" cy="661698"/>
          </a:xfrm>
          <a:custGeom>
            <a:avLst/>
            <a:gdLst/>
            <a:ahLst/>
            <a:cxnLst/>
            <a:rect r="r" b="b" t="t" l="l"/>
            <a:pathLst>
              <a:path h="661698" w="2474751">
                <a:moveTo>
                  <a:pt x="0" y="0"/>
                </a:moveTo>
                <a:lnTo>
                  <a:pt x="2474751" y="0"/>
                </a:lnTo>
                <a:lnTo>
                  <a:pt x="2474751" y="661698"/>
                </a:lnTo>
                <a:lnTo>
                  <a:pt x="0" y="6616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343332">
            <a:off x="3622320" y="6640715"/>
            <a:ext cx="681122" cy="2548415"/>
          </a:xfrm>
          <a:custGeom>
            <a:avLst/>
            <a:gdLst/>
            <a:ahLst/>
            <a:cxnLst/>
            <a:rect r="r" b="b" t="t" l="l"/>
            <a:pathLst>
              <a:path h="2548415" w="681122">
                <a:moveTo>
                  <a:pt x="0" y="0"/>
                </a:moveTo>
                <a:lnTo>
                  <a:pt x="681122" y="0"/>
                </a:lnTo>
                <a:lnTo>
                  <a:pt x="681122" y="2548415"/>
                </a:lnTo>
                <a:lnTo>
                  <a:pt x="0" y="2548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24151" y="-25532"/>
            <a:ext cx="8665413" cy="227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0"/>
              </a:lnSpc>
              <a:spcBef>
                <a:spcPct val="0"/>
              </a:spcBef>
            </a:pPr>
            <a:r>
              <a:rPr lang="en-US" sz="6536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RISK SCORING &amp; ANALYTICS 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6386" y="3059824"/>
            <a:ext cx="445664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NMAP SCAN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05958" y="3127392"/>
            <a:ext cx="3339948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VT SCAN 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28614" y="4810142"/>
            <a:ext cx="6828371" cy="15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66" indent="-329583" lvl="1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Nmap score: +40 HIGH port, +20 MEDIUM, +5 open port, −10 SSL, +15 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unpatched signal, +20 EOL 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929" y="4810142"/>
            <a:ext cx="6828371" cy="212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66" indent="-329583" lvl="1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VT score: weighted penalties for malicious hits, s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uspicious hits, bad reputation, malicious outlinks, stale data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960893" y="7035755"/>
            <a:ext cx="8428672" cy="2684565"/>
            <a:chOff x="0" y="0"/>
            <a:chExt cx="2979242" cy="948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79242" cy="948900"/>
            </a:xfrm>
            <a:custGeom>
              <a:avLst/>
              <a:gdLst/>
              <a:ahLst/>
              <a:cxnLst/>
              <a:rect r="r" b="b" t="t" l="l"/>
              <a:pathLst>
                <a:path h="948900" w="2979242">
                  <a:moveTo>
                    <a:pt x="46845" y="0"/>
                  </a:moveTo>
                  <a:lnTo>
                    <a:pt x="2932397" y="0"/>
                  </a:lnTo>
                  <a:cubicBezTo>
                    <a:pt x="2944821" y="0"/>
                    <a:pt x="2956736" y="4935"/>
                    <a:pt x="2965521" y="13720"/>
                  </a:cubicBezTo>
                  <a:cubicBezTo>
                    <a:pt x="2974306" y="22506"/>
                    <a:pt x="2979242" y="34421"/>
                    <a:pt x="2979242" y="46845"/>
                  </a:cubicBezTo>
                  <a:lnTo>
                    <a:pt x="2979242" y="902056"/>
                  </a:lnTo>
                  <a:cubicBezTo>
                    <a:pt x="2979242" y="927927"/>
                    <a:pt x="2958268" y="948900"/>
                    <a:pt x="2932397" y="948900"/>
                  </a:cubicBezTo>
                  <a:lnTo>
                    <a:pt x="46845" y="948900"/>
                  </a:lnTo>
                  <a:cubicBezTo>
                    <a:pt x="34421" y="948900"/>
                    <a:pt x="22506" y="943965"/>
                    <a:pt x="13720" y="935180"/>
                  </a:cubicBezTo>
                  <a:cubicBezTo>
                    <a:pt x="4935" y="926395"/>
                    <a:pt x="0" y="914479"/>
                    <a:pt x="0" y="902056"/>
                  </a:cubicBezTo>
                  <a:lnTo>
                    <a:pt x="0" y="46845"/>
                  </a:lnTo>
                  <a:cubicBezTo>
                    <a:pt x="0" y="34421"/>
                    <a:pt x="4935" y="22506"/>
                    <a:pt x="13720" y="13720"/>
                  </a:cubicBezTo>
                  <a:cubicBezTo>
                    <a:pt x="22506" y="4935"/>
                    <a:pt x="34421" y="0"/>
                    <a:pt x="4684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979242" cy="98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319626" y="7266787"/>
            <a:ext cx="758858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Composite 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= 55% Nmap + 45% VT, clamped 0–100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Severity labels: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CRITICAL (≥80) · HIGH (≥60) · MEDIUM (≥40) · LOW (≥20) · INFO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68869" y="6145481"/>
            <a:ext cx="2574077" cy="1584824"/>
          </a:xfrm>
          <a:custGeom>
            <a:avLst/>
            <a:gdLst/>
            <a:ahLst/>
            <a:cxnLst/>
            <a:rect r="r" b="b" t="t" l="l"/>
            <a:pathLst>
              <a:path h="1584824" w="2574077">
                <a:moveTo>
                  <a:pt x="0" y="0"/>
                </a:moveTo>
                <a:lnTo>
                  <a:pt x="2574077" y="0"/>
                </a:lnTo>
                <a:lnTo>
                  <a:pt x="2574077" y="1584824"/>
                </a:lnTo>
                <a:lnTo>
                  <a:pt x="0" y="15848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97891" y="2795754"/>
            <a:ext cx="2290109" cy="2347746"/>
          </a:xfrm>
          <a:custGeom>
            <a:avLst/>
            <a:gdLst/>
            <a:ahLst/>
            <a:cxnLst/>
            <a:rect r="r" b="b" t="t" l="l"/>
            <a:pathLst>
              <a:path h="2347746" w="2290109">
                <a:moveTo>
                  <a:pt x="0" y="0"/>
                </a:moveTo>
                <a:lnTo>
                  <a:pt x="2290109" y="0"/>
                </a:lnTo>
                <a:lnTo>
                  <a:pt x="2290109" y="2347746"/>
                </a:lnTo>
                <a:lnTo>
                  <a:pt x="0" y="2347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8017" y="1959881"/>
            <a:ext cx="3087833" cy="2501757"/>
          </a:xfrm>
          <a:custGeom>
            <a:avLst/>
            <a:gdLst/>
            <a:ahLst/>
            <a:cxnLst/>
            <a:rect r="r" b="b" t="t" l="l"/>
            <a:pathLst>
              <a:path h="2501757" w="3087833">
                <a:moveTo>
                  <a:pt x="0" y="0"/>
                </a:moveTo>
                <a:lnTo>
                  <a:pt x="3087833" y="0"/>
                </a:lnTo>
                <a:lnTo>
                  <a:pt x="3087833" y="2501757"/>
                </a:lnTo>
                <a:lnTo>
                  <a:pt x="0" y="25017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86326" y="8123756"/>
            <a:ext cx="10688706" cy="1775704"/>
          </a:xfrm>
          <a:custGeom>
            <a:avLst/>
            <a:gdLst/>
            <a:ahLst/>
            <a:cxnLst/>
            <a:rect r="r" b="b" t="t" l="l"/>
            <a:pathLst>
              <a:path h="1775704" w="10688706">
                <a:moveTo>
                  <a:pt x="0" y="0"/>
                </a:moveTo>
                <a:lnTo>
                  <a:pt x="10688706" y="0"/>
                </a:lnTo>
                <a:lnTo>
                  <a:pt x="10688706" y="1775704"/>
                </a:lnTo>
                <a:lnTo>
                  <a:pt x="0" y="17757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541560">
            <a:off x="8654923" y="7008105"/>
            <a:ext cx="1981876" cy="529913"/>
          </a:xfrm>
          <a:custGeom>
            <a:avLst/>
            <a:gdLst/>
            <a:ahLst/>
            <a:cxnLst/>
            <a:rect r="r" b="b" t="t" l="l"/>
            <a:pathLst>
              <a:path h="529913" w="1981876">
                <a:moveTo>
                  <a:pt x="0" y="0"/>
                </a:moveTo>
                <a:lnTo>
                  <a:pt x="1981875" y="0"/>
                </a:lnTo>
                <a:lnTo>
                  <a:pt x="1981875" y="529913"/>
                </a:lnTo>
                <a:lnTo>
                  <a:pt x="0" y="52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22892" y="454199"/>
            <a:ext cx="9842215" cy="126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  <a:spcBef>
                <a:spcPct val="0"/>
              </a:spcBef>
            </a:pPr>
            <a:r>
              <a:rPr lang="en-US" sz="74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</a:t>
            </a:r>
            <a:r>
              <a:rPr lang="en-US" sz="74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45648" y="3717618"/>
            <a:ext cx="9939528" cy="203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3095" indent="-421547" lvl="1">
              <a:lnSpc>
                <a:spcPts val="5467"/>
              </a:lnSpc>
              <a:buFont typeface="Arial"/>
              <a:buChar char="•"/>
            </a:pPr>
            <a:r>
              <a:rPr lang="en-US" b="true" sz="390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metric cards,</a:t>
            </a:r>
          </a:p>
          <a:p>
            <a:pPr algn="l" marL="843095" indent="-421547" lvl="1">
              <a:lnSpc>
                <a:spcPts val="5467"/>
              </a:lnSpc>
              <a:buFont typeface="Arial"/>
              <a:buChar char="•"/>
            </a:pPr>
            <a:r>
              <a:rPr lang="en-US" b="true" sz="390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Plotly charts, </a:t>
            </a:r>
          </a:p>
          <a:p>
            <a:pPr algn="l" marL="843095" indent="-421547" lvl="1">
              <a:lnSpc>
                <a:spcPts val="5467"/>
              </a:lnSpc>
              <a:buFont typeface="Arial"/>
              <a:buChar char="•"/>
            </a:pPr>
            <a:r>
              <a:rPr lang="en-US" b="true" sz="390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gauge meters per target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86326" y="2205853"/>
            <a:ext cx="7412609" cy="134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4168" indent="-422084" lvl="1">
              <a:lnSpc>
                <a:spcPts val="5473"/>
              </a:lnSpc>
              <a:buFont typeface="Arial"/>
              <a:buChar char="•"/>
            </a:pPr>
            <a:r>
              <a:rPr lang="en-US" b="true" sz="390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SQ</a:t>
            </a:r>
            <a:r>
              <a:rPr lang="en-US" b="true" sz="390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Lite persistence via database.py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3060" y="5675831"/>
            <a:ext cx="7412609" cy="203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4168" indent="-422084" lvl="1">
              <a:lnSpc>
                <a:spcPts val="5473"/>
              </a:lnSpc>
              <a:buFont typeface="Arial"/>
              <a:buChar char="•"/>
            </a:pPr>
            <a:r>
              <a:rPr lang="en-US" b="true" sz="390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</a:t>
            </a:r>
            <a:r>
              <a:rPr lang="en-US" b="true" sz="390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 email alert (Gmail SMTP) triggered for any HIGH or CRITICAL result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651383">
            <a:off x="4528774" y="3912468"/>
            <a:ext cx="1558991" cy="416842"/>
          </a:xfrm>
          <a:custGeom>
            <a:avLst/>
            <a:gdLst/>
            <a:ahLst/>
            <a:cxnLst/>
            <a:rect r="r" b="b" t="t" l="l"/>
            <a:pathLst>
              <a:path h="416842" w="1558991">
                <a:moveTo>
                  <a:pt x="0" y="0"/>
                </a:moveTo>
                <a:lnTo>
                  <a:pt x="1558991" y="0"/>
                </a:lnTo>
                <a:lnTo>
                  <a:pt x="1558991" y="416842"/>
                </a:lnTo>
                <a:lnTo>
                  <a:pt x="0" y="416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901426">
            <a:off x="14411518" y="3267196"/>
            <a:ext cx="1558991" cy="416842"/>
          </a:xfrm>
          <a:custGeom>
            <a:avLst/>
            <a:gdLst/>
            <a:ahLst/>
            <a:cxnLst/>
            <a:rect r="r" b="b" t="t" l="l"/>
            <a:pathLst>
              <a:path h="416842" w="1558991">
                <a:moveTo>
                  <a:pt x="0" y="0"/>
                </a:moveTo>
                <a:lnTo>
                  <a:pt x="1558991" y="0"/>
                </a:lnTo>
                <a:lnTo>
                  <a:pt x="1558991" y="416842"/>
                </a:lnTo>
                <a:lnTo>
                  <a:pt x="0" y="416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7251945">
            <a:off x="13210567" y="6403781"/>
            <a:ext cx="1558991" cy="416842"/>
          </a:xfrm>
          <a:custGeom>
            <a:avLst/>
            <a:gdLst/>
            <a:ahLst/>
            <a:cxnLst/>
            <a:rect r="r" b="b" t="t" l="l"/>
            <a:pathLst>
              <a:path h="416842" w="1558991">
                <a:moveTo>
                  <a:pt x="0" y="0"/>
                </a:moveTo>
                <a:lnTo>
                  <a:pt x="1558991" y="0"/>
                </a:lnTo>
                <a:lnTo>
                  <a:pt x="1558991" y="416843"/>
                </a:lnTo>
                <a:lnTo>
                  <a:pt x="0" y="4168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59195" y="3929177"/>
            <a:ext cx="3097897" cy="3060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2167" y="1425255"/>
            <a:ext cx="11564498" cy="149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1"/>
              </a:lnSpc>
              <a:spcBef>
                <a:spcPct val="0"/>
              </a:spcBef>
            </a:pPr>
            <a:r>
              <a:rPr lang="en-US" b="true" sz="8722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BENEFITS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75486" y="3406288"/>
            <a:ext cx="14225486" cy="398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Fully aut</a:t>
            </a: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omated, on-demand scanning — no manual steps</a:t>
            </a:r>
          </a:p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Scores are deterministic and auditable (documented weights)</a:t>
            </a:r>
          </a:p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b="true" sz="32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Dual-source scoring:</a:t>
            </a: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network-level (Nmap) + reputation-level (VirusTotal)</a:t>
            </a:r>
          </a:p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Persistent </a:t>
            </a:r>
            <a:r>
              <a:rPr lang="en-US" b="true" sz="32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scan history enables trend tracking</a:t>
            </a: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over time</a:t>
            </a:r>
          </a:p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Instant</a:t>
            </a:r>
            <a:r>
              <a:rPr lang="en-US" b="true" sz="32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email alerts</a:t>
            </a: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for high-severity findings</a:t>
            </a:r>
          </a:p>
          <a:p>
            <a:pPr algn="l">
              <a:lnSpc>
                <a:spcPts val="452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1831155">
            <a:off x="11882627" y="-2301504"/>
            <a:ext cx="8636689" cy="5219294"/>
          </a:xfrm>
          <a:custGeom>
            <a:avLst/>
            <a:gdLst/>
            <a:ahLst/>
            <a:cxnLst/>
            <a:rect r="r" b="b" t="t" l="l"/>
            <a:pathLst>
              <a:path h="5219294" w="8636689">
                <a:moveTo>
                  <a:pt x="8636689" y="5219294"/>
                </a:moveTo>
                <a:lnTo>
                  <a:pt x="0" y="5219294"/>
                </a:lnTo>
                <a:lnTo>
                  <a:pt x="0" y="0"/>
                </a:lnTo>
                <a:lnTo>
                  <a:pt x="8636689" y="0"/>
                </a:lnTo>
                <a:lnTo>
                  <a:pt x="8636689" y="52192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1751" y="1881840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LE</a:t>
            </a: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ARNINGS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43819" y="3802720"/>
            <a:ext cx="14000362" cy="4459565"/>
            <a:chOff x="0" y="0"/>
            <a:chExt cx="3687338" cy="11745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7338" cy="1174536"/>
            </a:xfrm>
            <a:custGeom>
              <a:avLst/>
              <a:gdLst/>
              <a:ahLst/>
              <a:cxnLst/>
              <a:rect r="r" b="b" t="t" l="l"/>
              <a:pathLst>
                <a:path h="1174536" w="3687338">
                  <a:moveTo>
                    <a:pt x="28202" y="0"/>
                  </a:moveTo>
                  <a:lnTo>
                    <a:pt x="3659136" y="0"/>
                  </a:lnTo>
                  <a:cubicBezTo>
                    <a:pt x="3674712" y="0"/>
                    <a:pt x="3687338" y="12626"/>
                    <a:pt x="3687338" y="28202"/>
                  </a:cubicBezTo>
                  <a:lnTo>
                    <a:pt x="3687338" y="1146334"/>
                  </a:lnTo>
                  <a:cubicBezTo>
                    <a:pt x="3687338" y="1161909"/>
                    <a:pt x="3674712" y="1174536"/>
                    <a:pt x="3659136" y="1174536"/>
                  </a:cubicBezTo>
                  <a:lnTo>
                    <a:pt x="28202" y="1174536"/>
                  </a:lnTo>
                  <a:cubicBezTo>
                    <a:pt x="12626" y="1174536"/>
                    <a:pt x="0" y="1161909"/>
                    <a:pt x="0" y="1146334"/>
                  </a:cubicBezTo>
                  <a:lnTo>
                    <a:pt x="0" y="28202"/>
                  </a:lnTo>
                  <a:cubicBezTo>
                    <a:pt x="0" y="12626"/>
                    <a:pt x="12626" y="0"/>
                    <a:pt x="2820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87338" cy="1212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88701" y="4946374"/>
            <a:ext cx="13655480" cy="269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2653" indent="-276327" lvl="1">
              <a:lnSpc>
                <a:spcPts val="3583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</a:t>
            </a: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 stdlib alone (subprocess, sqlite3, smtplib, xml) is enough for production-grade security tooling</a:t>
            </a:r>
          </a:p>
          <a:p>
            <a:pPr algn="ctr" marL="552653" indent="-276327" lvl="1">
              <a:lnSpc>
                <a:spcPts val="3583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Dataclasses (PortRisk, RiskReport) make scoring logic clean and testable</a:t>
            </a:r>
          </a:p>
          <a:p>
            <a:pPr algn="ctr" marL="552653" indent="-276327" lvl="1">
              <a:lnSpc>
                <a:spcPts val="3583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 module separation: scan → score → persist → present</a:t>
            </a:r>
          </a:p>
          <a:p>
            <a:pPr algn="ctr" marL="552653" indent="-276327" lvl="1">
              <a:lnSpc>
                <a:spcPts val="3583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.env + .gitignore pattern enforces real credential hygiene</a:t>
            </a:r>
          </a:p>
          <a:p>
            <a:pPr algn="ctr">
              <a:lnSpc>
                <a:spcPts val="3583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49639" y="1028700"/>
            <a:ext cx="11034300" cy="8416925"/>
          </a:xfrm>
          <a:custGeom>
            <a:avLst/>
            <a:gdLst/>
            <a:ahLst/>
            <a:cxnLst/>
            <a:rect r="r" b="b" t="t" l="l"/>
            <a:pathLst>
              <a:path h="8416925" w="11034300">
                <a:moveTo>
                  <a:pt x="0" y="0"/>
                </a:moveTo>
                <a:lnTo>
                  <a:pt x="11034299" y="0"/>
                </a:lnTo>
                <a:lnTo>
                  <a:pt x="11034299" y="8416925"/>
                </a:lnTo>
                <a:lnTo>
                  <a:pt x="0" y="8416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2167" y="1425257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6386" y="3909333"/>
            <a:ext cx="15702914" cy="280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801" indent="-350900" lvl="1">
              <a:lnSpc>
                <a:spcPts val="4550"/>
              </a:lnSpc>
              <a:buFont typeface="Arial"/>
              <a:buChar char="•"/>
            </a:pP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elivers on all 4 objectives: scan · score · visualize · alert</a:t>
            </a:r>
          </a:p>
          <a:p>
            <a:pPr algn="l" marL="701801" indent="-350900" lvl="1">
              <a:lnSpc>
                <a:spcPts val="4550"/>
              </a:lnSpc>
              <a:buFont typeface="Arial"/>
              <a:buChar char="•"/>
            </a:pP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Composite scoring gives one actionable number per target</a:t>
            </a:r>
          </a:p>
          <a:p>
            <a:pPr algn="l" marL="701801" indent="-350900" lvl="1">
              <a:lnSpc>
                <a:spcPts val="4550"/>
              </a:lnSpc>
              <a:buFont typeface="Arial"/>
              <a:buChar char="•"/>
            </a:pP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 architecture makes it maintainable and extensible</a:t>
            </a:r>
          </a:p>
          <a:p>
            <a:pPr algn="l" marL="701801" indent="-350900" lvl="1">
              <a:lnSpc>
                <a:spcPts val="4550"/>
              </a:lnSpc>
              <a:buFont typeface="Arial"/>
              <a:buChar char="•"/>
            </a:pP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With parallel scanning  → ready for enterprise use</a:t>
            </a:r>
          </a:p>
          <a:p>
            <a:pPr algn="l">
              <a:lnSpc>
                <a:spcPts val="45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32355" y="9214025"/>
            <a:ext cx="4023291" cy="52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1269" y="3042960"/>
            <a:ext cx="16705462" cy="4345265"/>
            <a:chOff x="0" y="0"/>
            <a:chExt cx="4399793" cy="1144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9793" cy="1144432"/>
            </a:xfrm>
            <a:custGeom>
              <a:avLst/>
              <a:gdLst/>
              <a:ahLst/>
              <a:cxnLst/>
              <a:rect r="r" b="b" t="t" l="l"/>
              <a:pathLst>
                <a:path h="1144432" w="4399793">
                  <a:moveTo>
                    <a:pt x="23635" y="0"/>
                  </a:moveTo>
                  <a:lnTo>
                    <a:pt x="4376157" y="0"/>
                  </a:lnTo>
                  <a:cubicBezTo>
                    <a:pt x="4389211" y="0"/>
                    <a:pt x="4399793" y="10582"/>
                    <a:pt x="4399793" y="23635"/>
                  </a:cubicBezTo>
                  <a:lnTo>
                    <a:pt x="4399793" y="1120797"/>
                  </a:lnTo>
                  <a:cubicBezTo>
                    <a:pt x="4399793" y="1133850"/>
                    <a:pt x="4389211" y="1144432"/>
                    <a:pt x="4376157" y="1144432"/>
                  </a:cubicBezTo>
                  <a:lnTo>
                    <a:pt x="23635" y="1144432"/>
                  </a:lnTo>
                  <a:cubicBezTo>
                    <a:pt x="10582" y="1144432"/>
                    <a:pt x="0" y="1133850"/>
                    <a:pt x="0" y="1120797"/>
                  </a:cubicBezTo>
                  <a:lnTo>
                    <a:pt x="0" y="23635"/>
                  </a:lnTo>
                  <a:cubicBezTo>
                    <a:pt x="0" y="10582"/>
                    <a:pt x="10582" y="0"/>
                    <a:pt x="2363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399793" cy="1182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DAHFLSZk_rg</dc:identifier>
  <dcterms:modified xsi:type="dcterms:W3CDTF">2011-08-01T06:04:30Z</dcterms:modified>
  <cp:revision>1</cp:revision>
  <dc:title>Cyber Risk Assessment &amp;amp; Threat Intelligence Platform</dc:title>
</cp:coreProperties>
</file>